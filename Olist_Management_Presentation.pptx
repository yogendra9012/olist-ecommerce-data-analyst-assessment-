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B45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32B45"/>
                </a:solidFill>
                <a:latin typeface="Cambria"/>
              </a:rPr>
              <a:t>Average Review Score by Delivery Timing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Review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3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On-time / Early Orders</c:v>
                  </c:pt>
                  <c:pt idx="1">
                    <c:v>Late Orders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4.29</c:v>
                </c:pt>
                <c:pt idx="1">
                  <c:v>2.57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23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B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22C66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4206240"/>
            <a:ext cx="4937760" cy="4937760"/>
          </a:xfrm>
          <a:prstGeom prst="ellipse">
            <a:avLst/>
          </a:prstGeom>
          <a:solidFill>
            <a:srgbClr val="27317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100766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48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PERFORMANCE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Category, Regional &amp; Delivery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for Growth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management review of Olist's Brazilian marketplace data — where we win today, where customers are lost, and what to do next.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5532120"/>
            <a:ext cx="100584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669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PRESENTATION  •  2016–2018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0233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6675120" cy="4434840"/>
          </a:xfrm>
          <a:prstGeom prst="rect">
            <a:avLst>
              <a:gd name="adj" fmla="val 1649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37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UNDERSTAND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performance, regional sales, delivery reliability, and customer satisfaction across Olist's marketplace.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594360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977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279392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practical, data-backed actions that drive growth and improve the customer experience.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06640" y="1417320"/>
            <a:ext cx="4297680" cy="1325880"/>
          </a:xfrm>
          <a:prstGeom prst="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7635240" y="1673352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3" name="Image 1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590" y="1733702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Region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366760" y="19842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is won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406640" y="2953512"/>
            <a:ext cx="4297680" cy="1325880"/>
          </a:xfrm>
          <a:prstGeom prst="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7635240" y="3209544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8" name="Image 2" descr="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90" y="3269894"/>
            <a:ext cx="382219" cy="3822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Reliability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66760" y="3520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vs. late orders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406640" y="4489704"/>
            <a:ext cx="4297680" cy="1325880"/>
          </a:xfrm>
          <a:prstGeom prst="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635240" y="4745736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3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90" y="4806086"/>
            <a:ext cx="382219" cy="38221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66760" y="46725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366760" y="50566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retention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0233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611880" cy="1417320"/>
          </a:xfrm>
          <a:prstGeom prst="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536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417320"/>
            <a:ext cx="3611880" cy="1417320"/>
          </a:xfrm>
          <a:prstGeom prst="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1536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112,650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251960" y="2286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1417320"/>
            <a:ext cx="3611880" cy="1417320"/>
          </a:xfrm>
          <a:prstGeom prst="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1536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046720" y="2286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CSV FILES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657600"/>
            <a:ext cx="2606040" cy="2148840"/>
          </a:xfrm>
          <a:prstGeom prst="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" y="4434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Olist's Brazilian e-commerce dataset (9 relational CSV files)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63240" y="4434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337560" y="3657600"/>
            <a:ext cx="2606040" cy="2148840"/>
          </a:xfrm>
          <a:prstGeom prst="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21" name="Shape 18"/>
          <p:cNvSpPr/>
          <p:nvPr/>
        </p:nvSpPr>
        <p:spPr>
          <a:xfrm>
            <a:off x="3520440" y="38404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19"/>
          <p:cNvSpPr/>
          <p:nvPr/>
        </p:nvSpPr>
        <p:spPr>
          <a:xfrm>
            <a:off x="35204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520440" y="4434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one-to-many tables (items, payments, reviews) before joining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943600" y="4434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217920" y="3657600"/>
            <a:ext cx="2606040" cy="2148840"/>
          </a:xfrm>
          <a:prstGeom prst="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400800" y="4434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delivery, freight, and retention metrics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823960" y="4434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C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098280" y="3657600"/>
            <a:ext cx="2606040" cy="2148840"/>
          </a:xfrm>
          <a:prstGeom prst="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31" name="Shape 28"/>
          <p:cNvSpPr/>
          <p:nvPr/>
        </p:nvSpPr>
        <p:spPr>
          <a:xfrm>
            <a:off x="9281160" y="38404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29"/>
          <p:cNvSpPr/>
          <p:nvPr/>
        </p:nvSpPr>
        <p:spPr>
          <a:xfrm>
            <a:off x="928116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281160" y="4434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with Python + Pandas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0233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596640" cy="2011680"/>
          </a:xfrm>
          <a:prstGeom prst="rect">
            <a:avLst>
              <a:gd name="adj" fmla="val 3182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1797710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673352"/>
            <a:ext cx="254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85800" y="2423160"/>
            <a:ext cx="313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item revenue — top category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282440" y="1508760"/>
            <a:ext cx="3596640" cy="2011680"/>
          </a:xfrm>
          <a:prstGeom prst="rect">
            <a:avLst>
              <a:gd name="adj" fmla="val 3182"/>
            </a:avLst>
          </a:prstGeom>
          <a:solidFill>
            <a:srgbClr val="F4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5110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90" y="1797710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51120" y="1673352"/>
            <a:ext cx="254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$5.07M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4511040" y="2423160"/>
            <a:ext cx="313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delivered revenue — leading region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07680" y="1508760"/>
            <a:ext cx="3596640" cy="2011680"/>
          </a:xfrm>
          <a:prstGeom prst="rect">
            <a:avLst>
              <a:gd name="adj" fmla="val 3182"/>
            </a:avLst>
          </a:prstGeom>
          <a:solidFill>
            <a:srgbClr val="F4F6FB"/>
          </a:solidFill>
          <a:ln/>
        </p:spPr>
      </p:sp>
      <p:sp>
        <p:nvSpPr>
          <p:cNvPr id="16" name="Shape 11"/>
          <p:cNvSpPr/>
          <p:nvPr/>
        </p:nvSpPr>
        <p:spPr>
          <a:xfrm>
            <a:off x="83362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s/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630" y="1797710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76360" y="1673352"/>
            <a:ext cx="254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8336280" y="2423160"/>
            <a:ext cx="313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the dominant payment method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3749040"/>
            <a:ext cx="3596640" cy="2011680"/>
          </a:xfrm>
          <a:prstGeom prst="rect">
            <a:avLst>
              <a:gd name="adj" fmla="val 3182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s/repe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4037990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913632"/>
            <a:ext cx="254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3.12%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85800" y="4663440"/>
            <a:ext cx="313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Repeat-customer rate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282440" y="3749040"/>
            <a:ext cx="3596640" cy="2011680"/>
          </a:xfrm>
          <a:prstGeom prst="rect">
            <a:avLst>
              <a:gd name="adj" fmla="val 3182"/>
            </a:avLst>
          </a:prstGeom>
          <a:solidFill>
            <a:srgbClr val="F4F6FB"/>
          </a:solidFill>
          <a:ln/>
        </p:spPr>
      </p:sp>
      <p:sp>
        <p:nvSpPr>
          <p:cNvPr id="26" name="Shape 19"/>
          <p:cNvSpPr/>
          <p:nvPr/>
        </p:nvSpPr>
        <p:spPr>
          <a:xfrm>
            <a:off x="451104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icons/tru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390" y="4037990"/>
            <a:ext cx="382219" cy="3822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51120" y="3913632"/>
            <a:ext cx="254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91.88%</a:t>
            </a:r>
            <a:endParaRPr lang="en-US" sz="2400" dirty="0"/>
          </a:p>
        </p:txBody>
      </p:sp>
      <p:sp>
        <p:nvSpPr>
          <p:cNvPr id="29" name="Text 21"/>
          <p:cNvSpPr/>
          <p:nvPr/>
        </p:nvSpPr>
        <p:spPr>
          <a:xfrm>
            <a:off x="4511040" y="4663440"/>
            <a:ext cx="313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107680" y="3749040"/>
            <a:ext cx="3596640" cy="2011680"/>
          </a:xfrm>
          <a:prstGeom prst="rect">
            <a:avLst>
              <a:gd name="adj" fmla="val 3182"/>
            </a:avLst>
          </a:prstGeom>
          <a:solidFill>
            <a:srgbClr val="F4F6FB"/>
          </a:solidFill>
          <a:ln/>
        </p:spPr>
      </p:sp>
      <p:sp>
        <p:nvSpPr>
          <p:cNvPr id="31" name="Shape 23"/>
          <p:cNvSpPr/>
          <p:nvPr/>
        </p:nvSpPr>
        <p:spPr>
          <a:xfrm>
            <a:off x="833628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6" descr="icons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630" y="4037990"/>
            <a:ext cx="382219" cy="38221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76360" y="3913632"/>
            <a:ext cx="254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</a:t>
            </a:r>
            <a:endParaRPr lang="en-US" sz="2400" dirty="0"/>
          </a:p>
        </p:txBody>
      </p:sp>
      <p:sp>
        <p:nvSpPr>
          <p:cNvPr id="34" name="Text 25"/>
          <p:cNvSpPr/>
          <p:nvPr/>
        </p:nvSpPr>
        <p:spPr>
          <a:xfrm>
            <a:off x="8336280" y="4663440"/>
            <a:ext cx="313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(of 5)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0233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Delivery &amp; Satisfaction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858000" y="1463040"/>
            <a:ext cx="4846320" cy="3931920"/>
          </a:xfrm>
          <a:prstGeom prst="rect">
            <a:avLst>
              <a:gd name="adj" fmla="val 1628"/>
            </a:avLst>
          </a:prstGeom>
          <a:solidFill>
            <a:srgbClr val="1E2761"/>
          </a:solidFill>
          <a:ln/>
        </p:spPr>
      </p:sp>
      <p:sp>
        <p:nvSpPr>
          <p:cNvPr id="7" name="Shape 3"/>
          <p:cNvSpPr/>
          <p:nvPr/>
        </p:nvSpPr>
        <p:spPr>
          <a:xfrm>
            <a:off x="7178040" y="178308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8" name="Image 1" descr="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877" y="1848917"/>
            <a:ext cx="416966" cy="4169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6384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PATTERN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178040" y="251460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 is strongly associated with customer satisfaction.
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 early orders average a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4.29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review, while late orders drop to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2.57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178040" y="4434840"/>
            <a:ext cx="4206240" cy="0"/>
          </a:xfrm>
          <a:prstGeom prst="line">
            <a:avLst/>
          </a:prstGeom>
          <a:noFill/>
          <a:ln w="12700">
            <a:solidFill>
              <a:srgbClr val="3A447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178040" y="46177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is an observational relationship, not proof of causation.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0233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566160" cy="4206240"/>
          </a:xfrm>
          <a:prstGeom prst="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3154680" y="1783080"/>
            <a:ext cx="594360" cy="59436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8" name="Image 1" descr="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003" y="185440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Delivery Reliability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35661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late-order bottlenecks and improve on-time performance to protect satisfaction scores.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97680" y="1508760"/>
            <a:ext cx="3566160" cy="4206240"/>
          </a:xfrm>
          <a:prstGeom prst="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Shape 9"/>
          <p:cNvSpPr/>
          <p:nvPr/>
        </p:nvSpPr>
        <p:spPr>
          <a:xfrm>
            <a:off x="699516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/rep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3" y="185440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Retention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72000" y="35661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post-purchase retention and loyalty campaigns to lift the 3.12% repeat-customer rate.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38160" y="1508760"/>
            <a:ext cx="3566160" cy="4206240"/>
          </a:xfrm>
          <a:prstGeom prst="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18" name="Text 13"/>
          <p:cNvSpPr/>
          <p:nvPr/>
        </p:nvSpPr>
        <p:spPr>
          <a:xfrm>
            <a:off x="841248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Shape 14"/>
          <p:cNvSpPr/>
          <p:nvPr/>
        </p:nvSpPr>
        <p:spPr>
          <a:xfrm>
            <a:off x="1083564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963" y="185440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Growth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412480" y="35661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high-performing categories while actively developing growth outside the largest region.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0233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MEASURE PROGRESS, TRACK THESE METRICS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5486400" cy="868680"/>
          </a:xfrm>
          <a:prstGeom prst="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" y="2117750"/>
            <a:ext cx="382219" cy="382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874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17920" y="1874520"/>
            <a:ext cx="5486400" cy="868680"/>
          </a:xfrm>
          <a:prstGeom prst="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50" y="2117750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874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Late-Order Rate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457200" y="2999232"/>
            <a:ext cx="5486400" cy="868680"/>
          </a:xfrm>
          <a:prstGeom prst="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15" name="Shape 10"/>
          <p:cNvSpPr/>
          <p:nvPr/>
        </p:nvSpPr>
        <p:spPr>
          <a:xfrm>
            <a:off x="640080" y="3182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3242462"/>
            <a:ext cx="382219" cy="3822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99923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217920" y="2999232"/>
            <a:ext cx="5486400" cy="868680"/>
          </a:xfrm>
          <a:prstGeom prst="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19" name="Shape 13"/>
          <p:cNvSpPr/>
          <p:nvPr/>
        </p:nvSpPr>
        <p:spPr>
          <a:xfrm>
            <a:off x="6400800" y="3182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icons/repe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50" y="3242462"/>
            <a:ext cx="382219" cy="3822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299923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457200" y="4123944"/>
            <a:ext cx="5486400" cy="868680"/>
          </a:xfrm>
          <a:prstGeom prst="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23" name="Shape 16"/>
          <p:cNvSpPr/>
          <p:nvPr/>
        </p:nvSpPr>
        <p:spPr>
          <a:xfrm>
            <a:off x="640080" y="4306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icons/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" y="4367174"/>
            <a:ext cx="382219" cy="38221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41239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217920" y="4123944"/>
            <a:ext cx="5486400" cy="868680"/>
          </a:xfrm>
          <a:prstGeom prst="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27" name="Shape 19"/>
          <p:cNvSpPr/>
          <p:nvPr/>
        </p:nvSpPr>
        <p:spPr>
          <a:xfrm>
            <a:off x="6400800" y="4306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6" descr="icons/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150" y="4367174"/>
            <a:ext cx="382219" cy="38221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40880" y="41239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Regional Revenue Growth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754880" cy="47548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206240" cy="4206240"/>
          </a:xfrm>
          <a:prstGeom prst="ellipse">
            <a:avLst/>
          </a:prstGeom>
          <a:solidFill>
            <a:srgbClr val="222C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31" y="57095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THIS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1226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476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2016–2018 data — may not reflect current operations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79806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334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 cannot prove causality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48386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3192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detail on marketing, margin, inventory, and carrier data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5120" y="1600200"/>
            <a:ext cx="5029200" cy="4206240"/>
          </a:xfrm>
          <a:prstGeom prst="rect">
            <a:avLst>
              <a:gd name="adj" fmla="val 1739"/>
            </a:avLst>
          </a:prstGeom>
          <a:solidFill>
            <a:srgbClr val="273176"/>
          </a:solidFill>
          <a:ln/>
        </p:spPr>
      </p:sp>
      <p:sp>
        <p:nvSpPr>
          <p:cNvPr id="15" name="Shape 12"/>
          <p:cNvSpPr/>
          <p:nvPr/>
        </p:nvSpPr>
        <p:spPr>
          <a:xfrm>
            <a:off x="6995160" y="192024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997" y="1986077"/>
            <a:ext cx="416966" cy="41696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995160" y="26974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current operational data and test interventions directly against the recommendations in this review.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995160" y="4343400"/>
            <a:ext cx="4389120" cy="0"/>
          </a:xfrm>
          <a:prstGeom prst="line">
            <a:avLst/>
          </a:prstGeom>
          <a:noFill/>
          <a:ln w="12700">
            <a:solidFill>
              <a:srgbClr val="3A447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95160" y="45262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analysis actionable rather than purely historical.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PERFORMANCE ANALYSIS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2026-09-11T07:48:08Z</dcterms:created>
  <dcterms:modified xsi:type="dcterms:W3CDTF">2026-09-11T07:48:08Z</dcterms:modified>
</cp:coreProperties>
</file>